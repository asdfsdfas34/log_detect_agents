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0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200" y="1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8394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【작성 가이드 — 프로젝트 개요 (권장 2분)】
● 문제 정의 (30초)
  '왜 이 프로젝트를 했는가'를 비즈니스 임팩트와 함께 간결하게 설명하세요.
● 핵심 기능 (45초)
  Agent 구성 흐름과 핵심 기술 스택을 한눈에 보이도록 서술하세요.
● 핵심 성과 (30초)
  실제 측정된 수치로 채우세요. 추정치는 '~' 를 붙이세요.
● Key Message (15초)
  심사위원이 하나만 기억한다면 이 문장이어야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【작성 가이드 — 기술 아키텍처 (권장 4분)】
● 다이어그램 (2분)
  - 시스템 전체 흐름이 한눈에 보여야 합니다
  - 사용자 입력 → 처리 → 결과 흐름을 화살표로 표시하세요
  - 컴포넌트 이름은 실제 기술명 사용 (예: LangGraph, Pinecone, GPT-4)
● 기술 선택 이유 (2분)
  - 심사위원은 LangGraph, LangChain을 '기본'으로 간주합니다
  - '기본입니다'가 아닌, 왜 이 기술이 필요했는지를 설명하세요
  - MCP, ToT, Self-Correction 등 고급 기술 사용 시 그 이유를 명확히 하세요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【작성 가이드 — 핵심 기술 과제 (권장 4분)】
● 핵심 기술 난제 (1분)
  - '왜 단순 구현으로 안 되는가'를 먼저 설명하세요
  - 심사위원은 단순 RAG / ReAct를 기본으로 봅니다. 그 한계를 명확히 제시하세요
● 엔지니어링 접근 (2분)
  - Agent의 '생각(로그)'이 고수준임을 증명해야 합니다
  - 시연 시 단순 Tool Call이 아닌 Planning / Self-Correction 로그를 보여주세요
  - 참고 논문 / 기술이 있다면 언급하면 고득점 포인트가 됩니다
● 결과 (1분)
  - 반드시 수치로 증명하세요
  - 직접 측정이 어려운 경우 '이전 대비' 상대 수치 사용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1097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Master Project 3기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0" y="164592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발표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931920" y="2633472"/>
            <a:ext cx="128016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51760" y="285292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과제명  </a:t>
            </a: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[여기에 과제명을 입력하세요]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51760" y="323697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멘   티  </a:t>
            </a: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[성명], [사번]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51760" y="36210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멘   토  </a:t>
            </a: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[성명1], [성명2]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발표 영상 10분 이내  |  시연 영상 별도 제출 5분 이내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37160"/>
            <a:ext cx="54864" cy="402336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74904" y="13716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권장 2분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이내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576072"/>
            <a:ext cx="8631936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" y="5029200"/>
            <a:ext cx="9144000" cy="1143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5029200"/>
            <a:ext cx="822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03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56032" y="667512"/>
            <a:ext cx="4617720" cy="1810512"/>
          </a:xfrm>
          <a:prstGeom prst="rect">
            <a:avLst/>
          </a:prstGeom>
          <a:solidFill>
            <a:srgbClr val="F8F9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" y="667512"/>
            <a:ext cx="54864" cy="1810512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" y="758952"/>
            <a:ext cx="4416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문제 정의 (Vision / Problem)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4904" y="1051560"/>
            <a:ext cx="441655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어떤 문제를 해결하고자 했는가?</a:t>
            </a:r>
            <a:endParaRPr lang="en-US" sz="900" dirty="0"/>
          </a:p>
          <a:p>
            <a:r>
              <a:rPr lang="ko-Kore-KR" altLang="ko-Kore-KR" sz="900"/>
              <a:t>배포 후 및 정기 점검마다 운영자가 대량의 로그를 직접 확인하는 반복 업무를</a:t>
            </a:r>
            <a:r>
              <a:rPr lang="ko-Kore-KR" altLang="en-US" sz="900"/>
              <a:t> 수행하는데</a:t>
            </a:r>
            <a:r>
              <a:rPr lang="ko-KR" altLang="en-US" sz="900"/>
              <a:t> 이는 길게는 </a:t>
            </a:r>
            <a:r>
              <a:rPr lang="en-US" altLang="ko-KR" sz="900"/>
              <a:t>30</a:t>
            </a:r>
            <a:r>
              <a:rPr lang="ko-KR" altLang="en-US" sz="900"/>
              <a:t>분 이상 소요되고 있으며</a:t>
            </a:r>
            <a:r>
              <a:rPr lang="en-US" altLang="ko-KR" sz="900"/>
              <a:t>,</a:t>
            </a:r>
            <a:r>
              <a:rPr lang="ko-KR" altLang="en-US" sz="900"/>
              <a:t> 운영자가 체득하고 있는 정보가 지식화 되지 않고 있습니다</a:t>
            </a:r>
            <a:r>
              <a:rPr lang="en-US" altLang="ko-KR" sz="900"/>
              <a:t>.</a:t>
            </a:r>
          </a:p>
          <a:p>
            <a:r>
              <a:rPr lang="ko-KR" altLang="en-US" sz="900"/>
              <a:t>반복되는 작업을 줄이고</a:t>
            </a:r>
            <a:r>
              <a:rPr lang="en-US" altLang="ko-KR" sz="900"/>
              <a:t>,</a:t>
            </a:r>
            <a:r>
              <a:rPr lang="ko-KR" altLang="en-US" sz="900"/>
              <a:t> 이 결과를 지식화 하고자 합니다</a:t>
            </a:r>
            <a:r>
              <a:rPr lang="en-US" altLang="ko-KR" sz="900"/>
              <a:t>.</a:t>
            </a:r>
            <a:br>
              <a:rPr lang="en-US" sz="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이 문제가 중요한가? (비즈니스 임팩트)</a:t>
            </a:r>
            <a:endParaRPr lang="en-US" sz="900" dirty="0"/>
          </a:p>
          <a:p>
            <a:r>
              <a:rPr lang="ko-Kore-KR" altLang="ko-Kore-KR" sz="900"/>
              <a:t>로그 점검 자동화로 배포 후 점검 시간</a:t>
            </a:r>
            <a:r>
              <a:rPr lang="ko-Kore-KR" altLang="en-US" sz="900"/>
              <a:t> 줄여</a:t>
            </a:r>
            <a:r>
              <a:rPr lang="en-US" altLang="ko-Kore-KR" sz="900"/>
              <a:t>,</a:t>
            </a:r>
            <a:r>
              <a:rPr lang="ko-KR" altLang="en-US" sz="900"/>
              <a:t> </a:t>
            </a:r>
            <a:r>
              <a:rPr lang="ko-Kore-KR" altLang="ko-Kore-KR" sz="900"/>
              <a:t>반복 점검에 투입되는 휴먼 리소스를 절감하고, 확보된 인력을 장애 대응과 서비스 품질 개선 등 고부가가치 업무에 집중시킬 수 있습니다.</a:t>
            </a:r>
            <a:r>
              <a:rPr lang="en-US" altLang="ko-Kore-KR" sz="900"/>
              <a:t> </a:t>
            </a:r>
            <a:r>
              <a:rPr lang="ko-KR" altLang="en-US" sz="900"/>
              <a:t>또한 인력이 변경되어도 기존 지식을 바로 승계 할 수 있습니다</a:t>
            </a:r>
            <a:r>
              <a:rPr lang="en-US" altLang="ko-KR" sz="900"/>
              <a:t>.</a:t>
            </a:r>
            <a:endParaRPr lang="en-US" sz="900" dirty="0">
              <a:solidFill>
                <a:srgbClr val="666666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56032" y="2569464"/>
            <a:ext cx="4617720" cy="2368296"/>
          </a:xfrm>
          <a:prstGeom prst="rect">
            <a:avLst/>
          </a:prstGeom>
          <a:solidFill>
            <a:srgbClr val="F0FDFB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" y="2569464"/>
            <a:ext cx="54864" cy="2368296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" y="2660904"/>
            <a:ext cx="4416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B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핵심 기능 (Core Features)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4904" y="2953512"/>
            <a:ext cx="4416552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무엇을 만들었는가?</a:t>
            </a:r>
            <a:endParaRPr lang="en-US" sz="900" dirty="0"/>
          </a:p>
          <a:p>
            <a:r>
              <a:rPr lang="ko-Kore-KR" altLang="ko-Kore-KR" sz="900"/>
              <a:t>로그 수집·정규화, 패턴 분류, 이상 탐지, RAG 기반 대응 권고 및 운영 지식 축적을 자동화한 Mini-AIOps 시스템을 구축했습니다.</a:t>
            </a:r>
            <a:r>
              <a:rPr lang="en-US" sz="4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b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900" b="1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</a:t>
            </a: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구성:</a:t>
            </a:r>
            <a:endParaRPr lang="en-US" sz="900" dirty="0"/>
          </a:p>
          <a:p>
            <a:r>
              <a:rPr lang="ko-Kore-KR" altLang="ko-Kore-KR" sz="900"/>
              <a:t>OrchestratorAgent(작업 조율) → LogCollectorAgent(로그 수집) → LogAnalysisAgent(정규화·패턴 분석) → AnomalyDetectionAgent(이상 탐지) → KnowledgeBaseRAGAgent(유사 사례 검색) → RecommendationAgent(대응 방안 생성)</a:t>
            </a:r>
            <a:r>
              <a:rPr lang="en-US" sz="900"/>
              <a:t> </a:t>
            </a:r>
          </a:p>
          <a:p>
            <a:pPr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</a:t>
            </a: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스택:</a:t>
            </a:r>
            <a:endParaRPr lang="en-US" sz="900" dirty="0"/>
          </a:p>
          <a:p>
            <a:r>
              <a:rPr lang="ko-Kore-KR" altLang="ko-Kore-KR" sz="900"/>
              <a:t>FastAPI · LangGraph · MCP-style Tool Registry · SQLite · ChromaDB · RAG · OpenAI/Azure OpenAI Embeddings · Vue 3 · TypeScript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56632" y="667512"/>
            <a:ext cx="3831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성과 (Key Achievements)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56632" y="978408"/>
            <a:ext cx="1860804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02352" y="1024128"/>
            <a:ext cx="17693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r>
              <a:rPr lang="ko-KR" altLang="en-US" b="1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지식축적</a:t>
            </a:r>
            <a:r>
              <a:rPr lang="en-US" b="1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dirty="0"/>
          </a:p>
          <a:p>
            <a:pPr marL="0" indent="0" algn="ctr">
              <a:buNone/>
            </a:pPr>
            <a:r>
              <a:rPr lang="ko-KR" altLang="en-US" sz="8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운영자 개인에게만 쌓이는 지식을 재사용 가능한 운영 지식으로 전환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7027164" y="978408"/>
            <a:ext cx="1860804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72884" y="1024128"/>
            <a:ext cx="17693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r>
              <a:rPr lang="ko-KR" altLang="en-US" b="1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점검시간</a:t>
            </a:r>
            <a:r>
              <a:rPr lang="en-US" b="1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dirty="0"/>
          </a:p>
          <a:p>
            <a:pPr marL="0" indent="0" algn="ctr">
              <a:buNone/>
            </a:pPr>
            <a:r>
              <a:rPr lang="ko-KR" altLang="en-US" sz="8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로그 전수 조사에 걸리는 시간 감소</a:t>
            </a:r>
            <a:endParaRPr lang="en-US" altLang="ko-KR" sz="800">
              <a:solidFill>
                <a:srgbClr val="666666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ko-KR" altLang="en-US" sz="80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약 </a:t>
            </a:r>
            <a:r>
              <a:rPr lang="en-US" altLang="ko-KR" sz="80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30</a:t>
            </a:r>
            <a:r>
              <a:rPr lang="ko-KR" altLang="en-US" sz="80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분 </a:t>
            </a:r>
            <a:r>
              <a:rPr lang="en-US" altLang="ko-KR" sz="80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&gt;</a:t>
            </a:r>
            <a:r>
              <a:rPr lang="ko-KR" altLang="en-US" sz="80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altLang="ko-KR" sz="80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5</a:t>
            </a:r>
            <a:r>
              <a:rPr lang="ko-KR" altLang="en-US" sz="80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분</a:t>
            </a:r>
            <a:r>
              <a:rPr lang="en-US" altLang="ko-KR" sz="80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(</a:t>
            </a:r>
            <a:r>
              <a:rPr lang="ko-KR" altLang="en-US" sz="80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추정</a:t>
            </a:r>
            <a:r>
              <a:rPr lang="en-US" altLang="ko-KR" sz="80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)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5056632" y="1874520"/>
            <a:ext cx="3831336" cy="804672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48072" y="1920240"/>
            <a:ext cx="36484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[Pattern </a:t>
            </a:r>
            <a:r>
              <a:rPr lang="ko-KR" altLang="en-US" b="1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인식률</a:t>
            </a:r>
            <a:r>
              <a:rPr lang="en-US" b="1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dirty="0"/>
          </a:p>
          <a:p>
            <a:pPr marL="0" indent="0" algn="ctr">
              <a:buNone/>
            </a:pPr>
            <a:r>
              <a:rPr lang="ko-KR" altLang="en-US" sz="8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신규패턴 인식률 </a:t>
            </a:r>
            <a:r>
              <a:rPr lang="en-US" altLang="ko-KR" sz="8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r>
              <a:rPr lang="ko-KR" altLang="en-US" sz="8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이상</a:t>
            </a:r>
            <a:br>
              <a:rPr lang="en-US" altLang="ko-KR" sz="8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ko-KR" altLang="en-US" sz="8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기존패턴 인식률 </a:t>
            </a:r>
            <a:r>
              <a:rPr lang="en-US" altLang="ko-KR" sz="8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r>
              <a:rPr lang="ko-KR" altLang="en-US" sz="80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이상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056632" y="2788920"/>
            <a:ext cx="3831336" cy="214884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56632" y="2907792"/>
            <a:ext cx="3831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93792" y="3172968"/>
            <a:ext cx="355701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ore-KR" sz="950" i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“</a:t>
            </a:r>
            <a:r>
              <a:rPr lang="ko-Kore-KR" altLang="ko-Kore-KR" sz="950" i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로그 점검 자동화로 반복 업무 시간을 </a:t>
            </a:r>
            <a:r>
              <a:rPr lang="ko-Kore-KR" altLang="en-US" sz="950" i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altLang="ko-Kore-KR" sz="950" i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7</a:t>
            </a:r>
            <a:r>
              <a:rPr lang="en-US" altLang="ko-KR" sz="950" i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0%</a:t>
            </a:r>
            <a:r>
              <a:rPr lang="ko-Kore-KR" altLang="ko-Kore-KR" sz="950" i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단축하고, 검증된 분석·조치 결과를 재사용 가능한 운영 지식으로 전환했습니다.</a:t>
            </a:r>
            <a:r>
              <a:rPr lang="en-US" altLang="ko-Kore-KR" sz="950" i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”</a:t>
            </a:r>
            <a:endParaRPr lang="en-US" sz="950" i="1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37160"/>
            <a:ext cx="54864" cy="402336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74904" y="13716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아키텍처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권장 4분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이내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576072"/>
            <a:ext cx="8631936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5029200"/>
            <a:ext cx="822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03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56032" y="667512"/>
            <a:ext cx="4617720" cy="4270248"/>
          </a:xfrm>
          <a:prstGeom prst="rect">
            <a:avLst/>
          </a:prstGeom>
          <a:solidFill>
            <a:srgbClr val="F5F5F5"/>
          </a:solidFill>
          <a:ln w="12700">
            <a:solidFill>
              <a:srgbClr val="999999"/>
            </a:solidFill>
            <a:prstDash val="sysDash"/>
          </a:ln>
        </p:spPr>
      </p:sp>
      <p:sp>
        <p:nvSpPr>
          <p:cNvPr id="11" name="Text 9"/>
          <p:cNvSpPr/>
          <p:nvPr/>
        </p:nvSpPr>
        <p:spPr>
          <a:xfrm>
            <a:off x="5056632" y="667512"/>
            <a:ext cx="3831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아키텍처 고려 사항 </a:t>
            </a:r>
            <a:br>
              <a:rPr lang="en-US" altLang="ko-KR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ko-KR" alt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 구성에 대한 핵심 결정 사항을 중심으로 설명하세요 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56632" y="1005840"/>
            <a:ext cx="3831336" cy="1249680"/>
          </a:xfrm>
          <a:prstGeom prst="rect">
            <a:avLst/>
          </a:prstGeom>
          <a:solidFill>
            <a:srgbClr val="F8F9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56632" y="1005840"/>
            <a:ext cx="54864" cy="124968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84648" y="1097280"/>
            <a:ext cx="237744" cy="237744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84648" y="10972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95544" y="1097280"/>
            <a:ext cx="3319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ore-KR" altLang="ko-Kore-KR" sz="1000"/>
              <a:t>Deterministic 로그 정규화 + PatternOps Registry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184648" y="1399031"/>
            <a:ext cx="3630168" cy="849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ore-KR" altLang="ko-Kore-KR" sz="700" b="1"/>
              <a:t>선택 이유:</a:t>
            </a:r>
            <a:br>
              <a:rPr lang="ko-Kore-KR" altLang="ko-Kore-KR" sz="700"/>
            </a:br>
            <a:r>
              <a:rPr lang="ko-Kore-KR" altLang="ko-Kore-KR" sz="700"/>
              <a:t>로그의 변동값으로 동일 장애가 여러 패턴으로 분리되는 문제를 방지하고, 검증된 패턴과 대응 기준을 지속적으로 재사용하기 위해 적용했습니다.</a:t>
            </a:r>
            <a:endParaRPr lang="en-US" altLang="ko-Kore-KR" sz="700"/>
          </a:p>
          <a:p>
            <a:endParaRPr lang="ko-Kore-KR" altLang="ko-Kore-KR" sz="700"/>
          </a:p>
          <a:p>
            <a:r>
              <a:rPr lang="ko-Kore-KR" altLang="ko-Kore-KR" sz="700" b="1"/>
              <a:t>핵심 활용:</a:t>
            </a:r>
            <a:br>
              <a:rPr lang="ko-Kore-KR" altLang="ko-Kore-KR" sz="700"/>
            </a:br>
            <a:r>
              <a:rPr lang="ko-Kore-KR" altLang="ko-Kore-KR" sz="700"/>
              <a:t>로그를 정규화해 Fingerprint로 그룹화하고, PatternOps Contract와 비교하여 Known/New Pattern을 판정하고 원인·조치 근거를 연결했습니다.</a:t>
            </a:r>
          </a:p>
        </p:txBody>
      </p:sp>
      <p:sp>
        <p:nvSpPr>
          <p:cNvPr id="18" name="Shape 16"/>
          <p:cNvSpPr/>
          <p:nvPr/>
        </p:nvSpPr>
        <p:spPr>
          <a:xfrm>
            <a:off x="5056632" y="2346960"/>
            <a:ext cx="3831336" cy="1249680"/>
          </a:xfrm>
          <a:prstGeom prst="rect">
            <a:avLst/>
          </a:prstGeom>
          <a:solidFill>
            <a:srgbClr val="F0FDFB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56632" y="2346960"/>
            <a:ext cx="54864" cy="124968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84648" y="2438400"/>
            <a:ext cx="237744" cy="23774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84648" y="24384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95544" y="2438400"/>
            <a:ext cx="3319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ore-KR" altLang="ko-Kore-KR" sz="1000"/>
              <a:t>02. Knowledge Card RAG + Recommendation Quality Gate</a:t>
            </a:r>
            <a:endParaRPr lang="en-US" altLang="ko-Kore-KR" sz="950" dirty="0"/>
          </a:p>
        </p:txBody>
      </p:sp>
      <p:sp>
        <p:nvSpPr>
          <p:cNvPr id="23" name="Text 21"/>
          <p:cNvSpPr/>
          <p:nvPr/>
        </p:nvSpPr>
        <p:spPr>
          <a:xfrm>
            <a:off x="5184648" y="2740152"/>
            <a:ext cx="3630168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ore-KR" altLang="ko-Kore-KR" sz="700" b="1"/>
              <a:t>선택 이유:</a:t>
            </a:r>
            <a:br>
              <a:rPr lang="ko-Kore-KR" altLang="ko-Kore-KR" sz="700"/>
            </a:br>
            <a:r>
              <a:rPr lang="ko-Kore-KR" altLang="ko-Kore-KR" sz="700"/>
              <a:t>모델 재학습 없이 축적된 장애 사례를 활용하고, LLM의 근거 없는 답변이나 위험한 운영 권고를 통제하기 위해 적용했습니다.</a:t>
            </a:r>
            <a:endParaRPr lang="en-US" altLang="ko-Kore-KR" sz="700"/>
          </a:p>
          <a:p>
            <a:endParaRPr lang="ko-Kore-KR" altLang="ko-Kore-KR" sz="700"/>
          </a:p>
          <a:p>
            <a:r>
              <a:rPr lang="ko-Kore-KR" altLang="ko-Kore-KR" sz="700" b="1"/>
              <a:t>핵심 활용:</a:t>
            </a:r>
            <a:br>
              <a:rPr lang="ko-Kore-KR" altLang="ko-Kore-KR" sz="700"/>
            </a:br>
            <a:r>
              <a:rPr lang="ko-Kore-KR" altLang="ko-Kore-KR" sz="700"/>
              <a:t>ChromaDB에서 유사 Knowledge Card를 검색해 권고 근거로 활용하고, 생성 결과를 품질 점수와 Hard-fail 기준으로 검증해 재생성 또는 안전한 Fallback을 수행했습니다.</a:t>
            </a:r>
          </a:p>
        </p:txBody>
      </p:sp>
      <p:sp>
        <p:nvSpPr>
          <p:cNvPr id="24" name="Shape 22"/>
          <p:cNvSpPr/>
          <p:nvPr/>
        </p:nvSpPr>
        <p:spPr>
          <a:xfrm>
            <a:off x="5056632" y="3688080"/>
            <a:ext cx="3831336" cy="124968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56632" y="3688080"/>
            <a:ext cx="54864" cy="1249680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84648" y="3779520"/>
            <a:ext cx="237744" cy="237744"/>
          </a:xfrm>
          <a:prstGeom prst="rect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84648" y="37795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95544" y="3779520"/>
            <a:ext cx="3319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ore-KR" altLang="ko-Kore-KR" sz="1000"/>
              <a:t>03. LangGraph 기반 Multi-Agent Orchestration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184648" y="4081272"/>
            <a:ext cx="3630168" cy="783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ore-KR" altLang="ko-Kore-KR" sz="700" b="1"/>
              <a:t>선택 이유:</a:t>
            </a:r>
            <a:br>
              <a:rPr lang="ko-Kore-KR" altLang="ko-Kore-KR" sz="700"/>
            </a:br>
            <a:r>
              <a:rPr lang="ko-Kore-KR" altLang="ko-Kore-KR" sz="700"/>
              <a:t>단순 Chain으로 관리하기 어려운 에이전트별 조건부 실행, 상태 기반 분기, 재시도 및 실패 이력을 체계적으로 제어하기 위해 적용했습니다.</a:t>
            </a:r>
          </a:p>
          <a:p>
            <a:r>
              <a:rPr lang="ko-Kore-KR" altLang="ko-Kore-KR" sz="700" b="1"/>
              <a:t>핵심 활용:</a:t>
            </a:r>
            <a:br>
              <a:rPr lang="ko-Kore-KR" altLang="ko-Kore-KR" sz="700"/>
            </a:br>
            <a:r>
              <a:rPr lang="ko-Kore-KR" altLang="ko-Kore-KR" sz="700"/>
              <a:t>Orchestrator가 로그 수집·패턴 분석·이상 탐지 에이전트를 조율하고 실행 결과와 근거를 SharedState에 누적했으며, 상세 권고는 선택된 Fingerprint에 대해 별도 Workflow로 실행했습니다.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0215F2E-A2C6-6E30-A370-70F5C40B4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33" y="667512"/>
            <a:ext cx="3919467" cy="41285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37160"/>
            <a:ext cx="54864" cy="402336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74904" y="13716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기술 과제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solidFill>
            <a:srgbClr val="F5F5F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62088" y="1920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권장 4분</a:t>
            </a:r>
            <a:r>
              <a:rPr lang="ko-KR" alt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이내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576072"/>
            <a:ext cx="8631936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5029200"/>
            <a:ext cx="8229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03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56032" y="667512"/>
            <a:ext cx="8631936" cy="987552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758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기술 난제 (Hurdle)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0624" y="1033272"/>
            <a:ext cx="8302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구현으로 해결되지 않았던 핵심 기술 과제를 제시하세요.</a:t>
            </a:r>
            <a:endParaRPr lang="en-US" sz="850">
              <a:solidFill>
                <a:srgbClr val="CCCCCC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ko-Kore-KR" altLang="ko-Kore-KR" sz="850">
                <a:solidFill>
                  <a:srgbClr val="CCCCCC"/>
                </a:solidFill>
                <a:latin typeface="Arial" pitchFamily="34" charset="0"/>
                <a:cs typeface="Arial" pitchFamily="34" charset="-120"/>
              </a:rPr>
              <a:t>request ID·경로·숫자처럼 계속 변하는 값 때문에 동일 장애가 서로 다른 Fingerprint로 분산되며, 고정 정규식만으로는 새 변형을 지속 흡수하기 어렵다. </a:t>
            </a:r>
          </a:p>
          <a:p>
            <a:r>
              <a:rPr lang="ko-Kore-KR" altLang="ko-Kore-KR" sz="850">
                <a:solidFill>
                  <a:srgbClr val="CCCCCC"/>
                </a:solidFill>
                <a:latin typeface="Arial" pitchFamily="34" charset="0"/>
                <a:cs typeface="Arial" pitchFamily="34" charset="-120"/>
              </a:rPr>
              <a:t>따라서 정규화를 일회성 전처리가 아니라, 운영자 검증 결과가 다음 분석의 판정 기준으로 환류되는 장기 운영 학습 레이어로 전환해야 했다.</a:t>
            </a: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" y="1764792"/>
            <a:ext cx="4620768" cy="3172968"/>
          </a:xfrm>
          <a:prstGeom prst="rect">
            <a:avLst/>
          </a:prstGeom>
          <a:solidFill>
            <a:srgbClr val="F8F9FA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1764792"/>
            <a:ext cx="54864" cy="3172968"/>
          </a:xfrm>
          <a:prstGeom prst="rect">
            <a:avLst/>
          </a:prstGeom>
          <a:solidFill>
            <a:srgbClr val="1A365D"/>
          </a:solidFill>
          <a:ln w="12700">
            <a:solidFill>
              <a:srgbClr val="1A36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" y="1856232"/>
            <a:ext cx="4041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엔지니어링 접근 방법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2167128"/>
            <a:ext cx="40233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어떻게 해결했는가? (설계 결정)</a:t>
            </a:r>
            <a:endParaRPr lang="en-US" sz="900" dirty="0"/>
          </a:p>
          <a:p>
            <a:r>
              <a:rPr lang="ko-Kore-KR" altLang="ko-Kore-KR" sz="85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결정적 정규화와 Fingerprint를 1차 기준으로 두고, Drain3·hybrid similarity·HDBSCAN으로 중복 후보를 만든 뒤 운영자 승인 시 normalization rule, canonical Fingerprint alias, Known Pattern을 함께 저장하도록 설계</a:t>
            </a:r>
            <a:r>
              <a:rPr lang="ko-KR" altLang="en-US" sz="85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하여</a:t>
            </a:r>
            <a:endParaRPr lang="ko-Kore-KR" altLang="ko-Kore-KR" sz="850">
              <a:solidFill>
                <a:srgbClr val="666666"/>
              </a:solidFill>
              <a:latin typeface="Arial" pitchFamily="34" charset="0"/>
              <a:cs typeface="Arial" pitchFamily="34" charset="-120"/>
            </a:endParaRPr>
          </a:p>
          <a:p>
            <a:r>
              <a:rPr lang="ko-Kore-KR" altLang="ko-Kore-KR" sz="85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**Human-in-the-loop 기반 지속 학습형 운영 메모리**</a:t>
            </a:r>
            <a:r>
              <a:rPr lang="ko-Kore-KR" altLang="en-US" sz="85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를</a:t>
            </a:r>
            <a:r>
              <a:rPr lang="ko-KR" altLang="en-US" sz="85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 사용한다</a:t>
            </a:r>
            <a:r>
              <a:rPr lang="en-US" altLang="ko-KR" sz="85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.</a:t>
            </a:r>
            <a:endParaRPr lang="ko-Kore-KR" altLang="ko-Kore-KR" sz="850">
              <a:solidFill>
                <a:srgbClr val="666666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r>
              <a:rPr lang="en-US" sz="50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>
              <a:buNone/>
            </a:pPr>
            <a:endParaRPr lang="en-US" sz="900" b="1" dirty="0">
              <a:solidFill>
                <a:srgbClr val="33333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900" b="1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</a:t>
            </a: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알고리즘 / 아키텍처 결정</a:t>
            </a:r>
            <a:endParaRPr lang="en-US" sz="900" dirty="0"/>
          </a:p>
          <a:p>
            <a:r>
              <a:rPr lang="ko-Kore-KR" altLang="en-US" sz="85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정</a:t>
            </a:r>
            <a:r>
              <a:rPr lang="ko-Kore-KR" altLang="ko-Kore-KR" sz="85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규화 후 Drain3·hybrid similarity·HDBSCAN으로 중복 후보를 만들고, 승인된 rule·alias·Known Pattern을 저장했다. </a:t>
            </a:r>
            <a:endParaRPr lang="en-US" altLang="ko-Kore-KR" sz="850">
              <a:solidFill>
                <a:srgbClr val="666666"/>
              </a:solidFill>
              <a:latin typeface="Arial" pitchFamily="34" charset="0"/>
              <a:cs typeface="Arial" pitchFamily="34" charset="-120"/>
            </a:endParaRPr>
          </a:p>
          <a:p>
            <a:endParaRPr lang="ko-Kore-KR" altLang="ko-Kore-KR" sz="850">
              <a:solidFill>
                <a:srgbClr val="666666"/>
              </a:solidFill>
              <a:latin typeface="Arial" pitchFamily="34" charset="0"/>
              <a:cs typeface="Arial" pitchFamily="34" charset="-120"/>
            </a:endParaRPr>
          </a:p>
          <a:p>
            <a:r>
              <a:rPr lang="ko-Kore-KR" altLang="ko-Kore-KR" sz="85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LangGraph와 PatternOps가 이를 다음 분석에 재적용하는 **Human-in-the-loop 운영 메모리**를 구성했다.</a:t>
            </a:r>
          </a:p>
          <a:p>
            <a:pPr marL="0" indent="0">
              <a:buNone/>
            </a:pPr>
            <a:endParaRPr lang="en-US" sz="850">
              <a:solidFill>
                <a:srgbClr val="666666"/>
              </a:solidFill>
              <a:latin typeface="Arial" pitchFamily="34" charset="0"/>
              <a:cs typeface="Arial" pitchFamily="34" charset="-120"/>
            </a:endParaRPr>
          </a:p>
          <a:p>
            <a:pPr marL="0" indent="0">
              <a:buNone/>
            </a:pPr>
            <a:endParaRPr lang="en-US" sz="900"/>
          </a:p>
          <a:p>
            <a:pPr marL="0" indent="0">
              <a:buNone/>
            </a:pPr>
            <a:r>
              <a:rPr lang="en-US" sz="900" b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</a:t>
            </a: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접근이 필요했는가?</a:t>
            </a:r>
            <a:endParaRPr lang="en-US" sz="900" dirty="0"/>
          </a:p>
          <a:p>
            <a:r>
              <a:rPr lang="ko-Kore-KR" altLang="ko-Kore-KR" sz="85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정규식만으로는 새 변형을 놓치고, embedding만으로는 구조가 다른 로그를 잘못 합칠 수 있다. </a:t>
            </a:r>
          </a:p>
          <a:p>
            <a:r>
              <a:rPr lang="ko-Kore-KR" altLang="ko-Kore-KR" sz="850">
                <a:solidFill>
                  <a:srgbClr val="666666"/>
                </a:solidFill>
                <a:latin typeface="Arial" pitchFamily="34" charset="0"/>
                <a:cs typeface="Arial" pitchFamily="34" charset="-120"/>
              </a:rPr>
              <a:t>결정적 규칙·다중 근거·운영자 승인을 결합해 재현성과 오탐 통제를 확보했다.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42F27494-48CC-B67F-5091-7461D87EE359}"/>
              </a:ext>
            </a:extLst>
          </p:cNvPr>
          <p:cNvGrpSpPr/>
          <p:nvPr/>
        </p:nvGrpSpPr>
        <p:grpSpPr>
          <a:xfrm>
            <a:off x="5058229" y="1764792"/>
            <a:ext cx="3829739" cy="3172968"/>
            <a:chOff x="4645152" y="1764792"/>
            <a:chExt cx="4242816" cy="3172968"/>
          </a:xfrm>
        </p:grpSpPr>
        <p:sp>
          <p:nvSpPr>
            <p:cNvPr id="16" name="Shape 14"/>
            <p:cNvSpPr/>
            <p:nvPr/>
          </p:nvSpPr>
          <p:spPr>
            <a:xfrm>
              <a:off x="4645152" y="1764792"/>
              <a:ext cx="4242816" cy="3172968"/>
            </a:xfrm>
            <a:prstGeom prst="rect">
              <a:avLst/>
            </a:prstGeom>
            <a:solidFill>
              <a:srgbClr val="F0FDFB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17" name="Shape 15"/>
            <p:cNvSpPr/>
            <p:nvPr/>
          </p:nvSpPr>
          <p:spPr>
            <a:xfrm>
              <a:off x="4645152" y="1764792"/>
              <a:ext cx="54864" cy="3172968"/>
            </a:xfrm>
            <a:prstGeom prst="rect">
              <a:avLst/>
            </a:prstGeom>
            <a:solidFill>
              <a:srgbClr val="4ECDC4"/>
            </a:solidFill>
            <a:ln w="12700">
              <a:solidFill>
                <a:srgbClr val="4ECDC4"/>
              </a:solidFill>
              <a:prstDash val="solid"/>
            </a:ln>
          </p:spPr>
        </p:sp>
        <p:sp>
          <p:nvSpPr>
            <p:cNvPr id="18" name="Text 16"/>
            <p:cNvSpPr/>
            <p:nvPr/>
          </p:nvSpPr>
          <p:spPr>
            <a:xfrm>
              <a:off x="4764024" y="1856232"/>
              <a:ext cx="4041648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3BB8B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결과 및 성과 </a:t>
              </a:r>
              <a:r>
                <a:rPr lang="en-US" sz="1000" b="1" dirty="0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(</a:t>
              </a:r>
              <a:r>
                <a:rPr lang="en-US" sz="1000" b="1" dirty="0" err="1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수치로</a:t>
              </a:r>
              <a:r>
                <a:rPr lang="en-US" sz="1000" b="1" dirty="0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ko-KR" altLang="en-US" sz="1000" b="1" dirty="0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제시</a:t>
              </a:r>
              <a:r>
                <a:rPr lang="en-US" sz="1000" b="1" dirty="0">
                  <a:solidFill>
                    <a:schemeClr val="bg1">
                      <a:lumMod val="50000"/>
                    </a:schemeClr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)</a:t>
              </a:r>
              <a:endParaRPr lang="en-US" sz="10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4773168" y="2194560"/>
              <a:ext cx="4023360" cy="81381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0" name="Text 18"/>
            <p:cNvSpPr/>
            <p:nvPr/>
          </p:nvSpPr>
          <p:spPr>
            <a:xfrm>
              <a:off x="4828032" y="2194560"/>
              <a:ext cx="822960" cy="8138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b="1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-</a:t>
              </a:r>
              <a:r>
                <a:rPr lang="en-US" sz="1800" b="1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%</a:t>
              </a:r>
              <a:endParaRPr lang="en-US" sz="18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5696712" y="2373600"/>
              <a:ext cx="0" cy="455737"/>
            </a:xfrm>
            <a:prstGeom prst="line">
              <a:avLst/>
            </a:prstGeom>
            <a:noFill/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5797296" y="2249424"/>
              <a:ext cx="2907792" cy="7040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50" b="1" dirty="0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성과 </a:t>
              </a:r>
              <a:r>
                <a:rPr lang="en-US" sz="850" b="1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지표 1</a:t>
              </a:r>
              <a:r>
                <a:rPr lang="ko-KR" altLang="en-US" sz="850" b="1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altLang="ko-KR" sz="850" b="1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–</a:t>
              </a:r>
              <a:r>
                <a:rPr lang="ko-KR" altLang="en-US" sz="850" b="1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ko-KR" altLang="en-US" sz="800">
                  <a:solidFill>
                    <a:srgbClr val="666666"/>
                  </a:solidFill>
                  <a:latin typeface="Arial" pitchFamily="34" charset="0"/>
                  <a:cs typeface="Arial" pitchFamily="34" charset="-120"/>
                </a:rPr>
                <a:t>중복 후보 </a:t>
              </a:r>
              <a:r>
                <a:rPr lang="ko-Kore-KR" altLang="ko-Kore-KR" sz="800">
                  <a:solidFill>
                    <a:srgbClr val="666666"/>
                  </a:solidFill>
                  <a:latin typeface="Arial" pitchFamily="34" charset="0"/>
                  <a:cs typeface="Arial" pitchFamily="34" charset="-120"/>
                </a:rPr>
                <a:t>Fingerprint 수렴</a:t>
              </a:r>
              <a:r>
                <a:rPr lang="ko-KR" altLang="en-US" sz="800">
                  <a:solidFill>
                    <a:srgbClr val="666666"/>
                  </a:solidFill>
                  <a:latin typeface="Arial" pitchFamily="34" charset="0"/>
                  <a:cs typeface="Arial" pitchFamily="34" charset="-120"/>
                </a:rPr>
                <a:t> 정확도</a:t>
              </a:r>
              <a:endParaRPr lang="en-US" altLang="ko-KR" sz="800" dirty="0">
                <a:solidFill>
                  <a:srgbClr val="666666"/>
                </a:solidFill>
                <a:latin typeface="Arial" pitchFamily="34" charset="0"/>
                <a:cs typeface="Arial" pitchFamily="34" charset="-120"/>
              </a:endParaRPr>
            </a:p>
            <a:p>
              <a:r>
                <a:rPr lang="ko-KR" altLang="en-US" sz="800">
                  <a:solidFill>
                    <a:srgbClr val="666666"/>
                  </a:solidFill>
                  <a:latin typeface="Arial" pitchFamily="34" charset="0"/>
                  <a:cs typeface="Arial" pitchFamily="34" charset="-120"/>
                </a:rPr>
                <a:t> </a:t>
              </a:r>
              <a:r>
                <a:rPr lang="en-US" altLang="ko-KR" sz="800">
                  <a:solidFill>
                    <a:srgbClr val="666666"/>
                  </a:solidFill>
                  <a:latin typeface="Arial" pitchFamily="34" charset="0"/>
                  <a:cs typeface="Arial" pitchFamily="34" charset="-120"/>
                </a:rPr>
                <a:t>-</a:t>
              </a:r>
              <a:r>
                <a:rPr lang="ko-KR" altLang="en-US" sz="800">
                  <a:solidFill>
                    <a:srgbClr val="666666"/>
                  </a:solidFill>
                  <a:latin typeface="Arial" pitchFamily="34" charset="0"/>
                  <a:cs typeface="Arial" pitchFamily="34" charset="-120"/>
                </a:rPr>
                <a:t> 중복으로 처리되는 패턴 </a:t>
              </a:r>
              <a:r>
                <a:rPr lang="en-US" altLang="ko-KR" sz="800">
                  <a:solidFill>
                    <a:srgbClr val="666666"/>
                  </a:solidFill>
                  <a:latin typeface="Arial" pitchFamily="34" charset="0"/>
                  <a:cs typeface="Arial" pitchFamily="34" charset="-120"/>
                </a:rPr>
                <a:t>n/n </a:t>
              </a:r>
              <a:r>
                <a:rPr lang="ko-KR" altLang="en-US" sz="800">
                  <a:solidFill>
                    <a:srgbClr val="666666"/>
                  </a:solidFill>
                  <a:latin typeface="Arial" pitchFamily="34" charset="0"/>
                  <a:cs typeface="Arial" pitchFamily="34" charset="-120"/>
                </a:rPr>
                <a:t>처리</a:t>
              </a:r>
              <a:endParaRPr lang="ko-Kore-KR" altLang="ko-Kore-KR" sz="800">
                <a:solidFill>
                  <a:srgbClr val="666666"/>
                </a:solidFill>
                <a:latin typeface="Arial" pitchFamily="34" charset="0"/>
                <a:cs typeface="Arial" pitchFamily="34" charset="-120"/>
              </a:endParaRPr>
            </a:p>
          </p:txBody>
        </p:sp>
        <p:sp>
          <p:nvSpPr>
            <p:cNvPr id="23" name="Shape 21"/>
            <p:cNvSpPr/>
            <p:nvPr/>
          </p:nvSpPr>
          <p:spPr>
            <a:xfrm>
              <a:off x="4773167" y="3090672"/>
              <a:ext cx="4023360" cy="81381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4828032" y="3090672"/>
              <a:ext cx="822960" cy="8138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1800" b="1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100</a:t>
              </a:r>
              <a:r>
                <a:rPr lang="en-US" sz="1800" b="1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%</a:t>
              </a:r>
              <a:endParaRPr lang="en-US" sz="18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5696712" y="3269712"/>
              <a:ext cx="0" cy="455737"/>
            </a:xfrm>
            <a:prstGeom prst="line">
              <a:avLst/>
            </a:prstGeom>
            <a:noFill/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5797296" y="3145536"/>
              <a:ext cx="2907792" cy="7040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50" b="1" dirty="0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성과 </a:t>
              </a:r>
              <a:r>
                <a:rPr lang="en-US" sz="850" b="1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지표 2</a:t>
              </a:r>
              <a:r>
                <a:rPr lang="ko-KR" altLang="en-US" sz="850" b="1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altLang="ko-KR" sz="850" b="1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-</a:t>
              </a:r>
              <a:r>
                <a:rPr lang="ko-KR" altLang="en-US" sz="850" b="1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ko-Kore-KR" altLang="ko-Kore-KR" sz="800">
                  <a:solidFill>
                    <a:srgbClr val="666666"/>
                  </a:solidFill>
                  <a:latin typeface="Arial" pitchFamily="34" charset="0"/>
                  <a:cs typeface="Arial" pitchFamily="34" charset="-120"/>
                </a:rPr>
                <a:t>규칙 재사용 </a:t>
              </a:r>
              <a:endParaRPr lang="ko-Kore-KR" altLang="en-US" sz="800">
                <a:solidFill>
                  <a:srgbClr val="666666"/>
                </a:solidFill>
                <a:latin typeface="Arial" pitchFamily="34" charset="0"/>
                <a:cs typeface="Arial" pitchFamily="34" charset="-120"/>
              </a:endParaRPr>
            </a:p>
            <a:p>
              <a:r>
                <a:rPr lang="en-US" altLang="ko-Kore-KR" sz="750">
                  <a:solidFill>
                    <a:srgbClr val="666666"/>
                  </a:solidFill>
                  <a:latin typeface="Arial" pitchFamily="34" charset="0"/>
                  <a:cs typeface="Arial" pitchFamily="34" charset="-120"/>
                </a:rPr>
                <a:t>Known Pattern </a:t>
              </a:r>
              <a:r>
                <a:rPr lang="ko-Kore-KR" altLang="ko-Kore-KR" sz="750">
                  <a:solidFill>
                    <a:srgbClr val="666666"/>
                  </a:solidFill>
                  <a:latin typeface="Arial" pitchFamily="34" charset="0"/>
                  <a:cs typeface="Arial" pitchFamily="34" charset="-120"/>
                </a:rPr>
                <a:t>변형 </a:t>
              </a:r>
              <a:r>
                <a:rPr lang="en-US" altLang="ko-Kore-KR" sz="750">
                  <a:solidFill>
                    <a:srgbClr val="666666"/>
                  </a:solidFill>
                  <a:latin typeface="Arial" pitchFamily="34" charset="0"/>
                  <a:cs typeface="Arial" pitchFamily="34" charset="-120"/>
                </a:rPr>
                <a:t>5</a:t>
              </a:r>
              <a:r>
                <a:rPr lang="en-US" altLang="ko-KR" sz="750">
                  <a:solidFill>
                    <a:srgbClr val="666666"/>
                  </a:solidFill>
                  <a:latin typeface="Arial" pitchFamily="34" charset="0"/>
                  <a:cs typeface="Arial" pitchFamily="34" charset="-120"/>
                </a:rPr>
                <a:t>0</a:t>
              </a:r>
              <a:r>
                <a:rPr lang="ko-Kore-KR" altLang="ko-Kore-KR" sz="750">
                  <a:solidFill>
                    <a:srgbClr val="666666"/>
                  </a:solidFill>
                  <a:latin typeface="Arial" pitchFamily="34" charset="0"/>
                  <a:cs typeface="Arial" pitchFamily="34" charset="-120"/>
                </a:rPr>
                <a:t>건을 </a:t>
              </a:r>
              <a:r>
                <a:rPr lang="en-US" altLang="ko-Kore-KR" sz="750">
                  <a:solidFill>
                    <a:srgbClr val="666666"/>
                  </a:solidFill>
                  <a:latin typeface="Arial" pitchFamily="34" charset="0"/>
                  <a:cs typeface="Arial" pitchFamily="34" charset="-120"/>
                </a:rPr>
                <a:t>5</a:t>
              </a:r>
              <a:r>
                <a:rPr lang="en-US" altLang="ko-KR" sz="750">
                  <a:solidFill>
                    <a:srgbClr val="666666"/>
                  </a:solidFill>
                  <a:latin typeface="Arial" pitchFamily="34" charset="0"/>
                  <a:cs typeface="Arial" pitchFamily="34" charset="-120"/>
                </a:rPr>
                <a:t>0</a:t>
              </a:r>
              <a:r>
                <a:rPr lang="ko-Kore-KR" altLang="ko-Kore-KR" sz="750">
                  <a:solidFill>
                    <a:srgbClr val="666666"/>
                  </a:solidFill>
                  <a:latin typeface="Arial" pitchFamily="34" charset="0"/>
                  <a:cs typeface="Arial" pitchFamily="34" charset="-120"/>
                </a:rPr>
                <a:t>/</a:t>
              </a:r>
              <a:r>
                <a:rPr lang="en-US" altLang="ko-Kore-KR" sz="750">
                  <a:solidFill>
                    <a:srgbClr val="666666"/>
                  </a:solidFill>
                  <a:latin typeface="Arial" pitchFamily="34" charset="0"/>
                  <a:cs typeface="Arial" pitchFamily="34" charset="-120"/>
                </a:rPr>
                <a:t>5</a:t>
              </a:r>
              <a:r>
                <a:rPr lang="en-US" altLang="ko-KR" sz="750">
                  <a:solidFill>
                    <a:srgbClr val="666666"/>
                  </a:solidFill>
                  <a:latin typeface="Arial" pitchFamily="34" charset="0"/>
                  <a:cs typeface="Arial" pitchFamily="34" charset="-120"/>
                </a:rPr>
                <a:t>0</a:t>
              </a:r>
              <a:r>
                <a:rPr lang="ko-Kore-KR" altLang="ko-Kore-KR" sz="750">
                  <a:solidFill>
                    <a:srgbClr val="666666"/>
                  </a:solidFill>
                  <a:latin typeface="Arial" pitchFamily="34" charset="0"/>
                  <a:cs typeface="Arial" pitchFamily="34" charset="-120"/>
                </a:rPr>
                <a:t>(100%) Known Pattern으로 흡수</a:t>
              </a:r>
            </a:p>
          </p:txBody>
        </p:sp>
        <p:sp>
          <p:nvSpPr>
            <p:cNvPr id="27" name="Shape 25"/>
            <p:cNvSpPr/>
            <p:nvPr/>
          </p:nvSpPr>
          <p:spPr>
            <a:xfrm>
              <a:off x="4773168" y="3986784"/>
              <a:ext cx="4023360" cy="81381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28" name="Text 26"/>
            <p:cNvSpPr/>
            <p:nvPr/>
          </p:nvSpPr>
          <p:spPr>
            <a:xfrm>
              <a:off x="4828032" y="3986784"/>
              <a:ext cx="822960" cy="8138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b="1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-</a:t>
              </a:r>
              <a:r>
                <a:rPr lang="en-US" sz="1800" b="1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배</a:t>
              </a:r>
              <a:endParaRPr lang="en-US" sz="18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5696712" y="4165824"/>
              <a:ext cx="0" cy="455737"/>
            </a:xfrm>
            <a:prstGeom prst="line">
              <a:avLst/>
            </a:prstGeom>
            <a:noFill/>
            <a:ln w="12700">
              <a:solidFill>
                <a:srgbClr val="E5E5E5"/>
              </a:solidFill>
              <a:prstDash val="solid"/>
            </a:ln>
          </p:spPr>
        </p:sp>
        <p:sp>
          <p:nvSpPr>
            <p:cNvPr id="30" name="Text 28"/>
            <p:cNvSpPr/>
            <p:nvPr/>
          </p:nvSpPr>
          <p:spPr>
            <a:xfrm>
              <a:off x="5797296" y="4041648"/>
              <a:ext cx="2907792" cy="7040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50" b="1" dirty="0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성과 </a:t>
              </a:r>
              <a:r>
                <a:rPr lang="en-US" sz="850" b="1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지표 3</a:t>
              </a:r>
              <a:r>
                <a:rPr lang="ko-KR" altLang="en-US" sz="850" b="1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en-US" altLang="ko-KR" sz="850" b="1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-</a:t>
              </a:r>
              <a:r>
                <a:rPr lang="ko-KR" altLang="en-US" sz="850" b="1">
                  <a:solidFill>
                    <a:srgbClr val="1A36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</a:t>
              </a:r>
              <a:r>
                <a:rPr lang="ko-Kore-KR" altLang="ko-Kore-KR" sz="800">
                  <a:solidFill>
                    <a:srgbClr val="666666"/>
                  </a:solidFill>
                  <a:latin typeface="Arial" pitchFamily="34" charset="0"/>
                  <a:cs typeface="Arial" pitchFamily="34" charset="-120"/>
                </a:rPr>
                <a:t>증분 분석 </a:t>
              </a:r>
              <a:endParaRPr lang="en-US" sz="850" dirty="0"/>
            </a:p>
            <a:p>
              <a:r>
                <a:rPr lang="ko-Kore-KR" altLang="ko-Kore-KR" sz="750">
                  <a:solidFill>
                    <a:srgbClr val="666666"/>
                  </a:solidFill>
                  <a:latin typeface="Arial" pitchFamily="34" charset="0"/>
                  <a:cs typeface="Arial" pitchFamily="34" charset="-120"/>
                </a:rPr>
                <a:t>재실행 시 신규 처리 </a:t>
              </a:r>
              <a:r>
                <a:rPr lang="en-US" altLang="ko-Kore-KR" sz="750">
                  <a:solidFill>
                    <a:srgbClr val="666666"/>
                  </a:solidFill>
                  <a:latin typeface="Arial" pitchFamily="34" charset="0"/>
                  <a:cs typeface="Arial" pitchFamily="34" charset="-120"/>
                </a:rPr>
                <a:t>5</a:t>
              </a:r>
              <a:r>
                <a:rPr lang="en-US" altLang="ko-KR" sz="750">
                  <a:solidFill>
                    <a:srgbClr val="666666"/>
                  </a:solidFill>
                  <a:latin typeface="Arial" pitchFamily="34" charset="0"/>
                  <a:cs typeface="Arial" pitchFamily="34" charset="-120"/>
                </a:rPr>
                <a:t>0</a:t>
              </a:r>
              <a:r>
                <a:rPr lang="ko-Kore-KR" altLang="ko-Kore-KR" sz="750">
                  <a:solidFill>
                    <a:srgbClr val="666666"/>
                  </a:solidFill>
                  <a:latin typeface="Arial" pitchFamily="34" charset="0"/>
                  <a:cs typeface="Arial" pitchFamily="34" charset="-120"/>
                </a:rPr>
                <a:t>건 → 0건, 중복 재처리 100% 제거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792</TotalTime>
  <Words>1167</Words>
  <Application>Microsoft Macintosh PowerPoint</Application>
  <PresentationFormat>화면 슬라이드 쇼(16:9)</PresentationFormat>
  <Paragraphs>90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Master Project 발표 자료 템플릿 v1.0</dc:title>
  <dc:subject>PptxGenJS Presentation</dc:subject>
  <dc:creator>PptxGenJS</dc:creator>
  <cp:lastModifiedBy>Microsoft Office User</cp:lastModifiedBy>
  <cp:revision>22</cp:revision>
  <dcterms:created xsi:type="dcterms:W3CDTF">2026-03-16T07:29:48Z</dcterms:created>
  <dcterms:modified xsi:type="dcterms:W3CDTF">2026-07-16T08:28:12Z</dcterms:modified>
</cp:coreProperties>
</file>