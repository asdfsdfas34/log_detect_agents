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3"/>
    <p:restoredTop sz="94610"/>
  </p:normalViewPr>
  <p:slideViewPr>
    <p:cSldViewPr snapToGrid="0" snapToObjects="1">
      <p:cViewPr varScale="1">
        <p:scale>
          <a:sx n="190" d="100"/>
          <a:sy n="190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345"/>
            <a:ext cx="1280160" cy="5461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3055"/>
            <a:ext cx="3841115" cy="347980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>
              <a:buFontTx/>
              <a:buNone/>
            </a:pPr>
            <a:r>
              <a:rPr lang="en-US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과제명  </a:t>
            </a:r>
            <a:r>
              <a:rPr lang="ko-KR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Mini AI-Ops</a:t>
            </a:r>
            <a:endParaRPr lang="ko-KR" altLang="en-US" sz="13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Text 5"/>
          <p:cNvSpPr>
            <a:spLocks/>
          </p:cNvSpPr>
          <p:nvPr/>
        </p:nvSpPr>
        <p:spPr>
          <a:xfrm>
            <a:off x="2651760" y="3246120"/>
            <a:ext cx="3841115" cy="3479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0" tIns="0" rIns="0" bIns="0" numCol="1" anchor="ctr">
            <a:noAutofit/>
          </a:bodyPr>
          <a:lstStyle/>
          <a:p>
            <a:pPr marL="0" indent="0">
              <a:buFontTx/>
              <a:buNone/>
            </a:pPr>
            <a:r>
              <a:rPr lang="en-US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멘   티  </a:t>
            </a:r>
            <a:r>
              <a:rPr lang="ko-KR" altLang="en-US" sz="1300" b="1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신희승</a:t>
            </a:r>
            <a:r>
              <a:rPr lang="en-US" sz="13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, </a:t>
            </a:r>
            <a:r>
              <a:rPr lang="en-US" altLang="ko-KR" sz="13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10068</a:t>
            </a:r>
            <a:endParaRPr lang="ko-KR" altLang="en-US" sz="13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651760" y="3620770"/>
            <a:ext cx="3841115" cy="347980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>
              <a:buFontTx/>
              <a:buNone/>
            </a:pPr>
            <a:r>
              <a:rPr lang="en-US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멘   토  </a:t>
            </a:r>
            <a:r>
              <a:rPr lang="ko-KR" altLang="en-US" sz="1300" b="1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이재영</a:t>
            </a:r>
            <a:endParaRPr lang="ko-KR" altLang="en-US" sz="13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5905" y="137160"/>
            <a:ext cx="54610" cy="40259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650" y="137160"/>
            <a:ext cx="6766560" cy="402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215" y="191770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215" y="19177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5905" y="575945"/>
            <a:ext cx="863219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5905" y="667385"/>
            <a:ext cx="4617720" cy="1810385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905" y="667385"/>
            <a:ext cx="54610" cy="1810385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650" y="758825"/>
            <a:ext cx="4416425" cy="24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650" y="1051560"/>
            <a:ext cx="4416425" cy="1353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문제를 해결하고자 했는가?</a:t>
            </a:r>
            <a:endParaRPr lang="en-US" sz="900" dirty="0"/>
          </a:p>
          <a:p>
            <a:r>
              <a:rPr lang="ko-Kore-KR" altLang="ko-Kore-KR" sz="900"/>
              <a:t>배포 후 및 정기 점검마다 운영자가 대량의 로그를 직접 확인하는 반복 업무를</a:t>
            </a:r>
            <a:r>
              <a:rPr lang="ko-Kore-KR" altLang="en-US" sz="900"/>
              <a:t> 수행하는데</a:t>
            </a:r>
            <a:r>
              <a:rPr lang="ko-KR" altLang="en-US" sz="900"/>
              <a:t> 이는 길게는 </a:t>
            </a:r>
            <a:r>
              <a:rPr lang="en-US" altLang="ko-KR" sz="900"/>
              <a:t>30</a:t>
            </a:r>
            <a:r>
              <a:rPr lang="ko-KR" altLang="en-US" sz="900"/>
              <a:t>분 이상 소요되고 있으며</a:t>
            </a:r>
            <a:r>
              <a:rPr lang="en-US" altLang="ko-KR" sz="900"/>
              <a:t>,</a:t>
            </a:r>
            <a:r>
              <a:rPr lang="ko-KR" altLang="en-US" sz="900"/>
              <a:t> 운영자가 체득하고 있는 정보가 지식화 되지 않고 있습니다</a:t>
            </a:r>
            <a:r>
              <a:rPr lang="en-US" altLang="ko-KR" sz="900"/>
              <a:t>.</a:t>
            </a:r>
          </a:p>
          <a:p>
            <a:r>
              <a:rPr lang="ko-KR" altLang="en-US" sz="900"/>
              <a:t>반복되는 작업을 줄이고</a:t>
            </a:r>
            <a:r>
              <a:rPr lang="en-US" altLang="ko-KR" sz="900"/>
              <a:t>,</a:t>
            </a:r>
            <a:r>
              <a:rPr lang="ko-KR" altLang="en-US" sz="900"/>
              <a:t> 이 결과를 지식화 하고자 합니다</a:t>
            </a:r>
            <a:r>
              <a:rPr lang="en-US" altLang="ko-KR" sz="900"/>
              <a:t>.</a:t>
            </a: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문제가 중요한가? (비즈니스 임팩트)</a:t>
            </a:r>
            <a:endParaRPr lang="en-US" sz="900" dirty="0"/>
          </a:p>
          <a:p>
            <a:r>
              <a:rPr lang="ko-Kore-KR" altLang="ko-Kore-KR" sz="900"/>
              <a:t>로그 점검 자동화로 배포 후 점검 시간</a:t>
            </a:r>
            <a:r>
              <a:rPr lang="ko-Kore-KR" altLang="en-US" sz="900"/>
              <a:t> 줄여</a:t>
            </a:r>
            <a:r>
              <a:rPr lang="en-US" altLang="ko-Kore-KR" sz="900"/>
              <a:t>,</a:t>
            </a:r>
            <a:r>
              <a:rPr lang="ko-KR" altLang="en-US" sz="900"/>
              <a:t> </a:t>
            </a:r>
            <a:r>
              <a:rPr lang="ko-Kore-KR" altLang="ko-Kore-KR" sz="900"/>
              <a:t>반복 점검에 투입되는 휴먼 리소스를 절감하고, 확보된 인력을 장애 대응과 서비스 품질 개선 등 고부가가치 업무에 집중시킬 수 있습니다.</a:t>
            </a:r>
            <a:r>
              <a:rPr lang="en-US" altLang="ko-Kore-KR" sz="900"/>
              <a:t> </a:t>
            </a:r>
            <a:r>
              <a:rPr lang="ko-KR" altLang="en-US" sz="900"/>
              <a:t>또한 인력이 변경되어도 기존 지식을 바로 승계 할 수 있습니다</a:t>
            </a:r>
            <a:r>
              <a:rPr lang="en-US" altLang="ko-KR" sz="900"/>
              <a:t>.</a:t>
            </a:r>
            <a:endParaRPr lang="en-US" sz="900" dirty="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5905" y="2569210"/>
            <a:ext cx="4617720" cy="236855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905" y="2569210"/>
            <a:ext cx="54610" cy="236855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650" y="2660650"/>
            <a:ext cx="4416425" cy="24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650" y="2953385"/>
            <a:ext cx="4416425" cy="1911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만들었는가?</a:t>
            </a:r>
            <a:endParaRPr lang="en-US" sz="900" dirty="0"/>
          </a:p>
          <a:p>
            <a:r>
              <a:rPr lang="ko-Kore-KR" altLang="ko-Kore-KR" sz="900"/>
              <a:t>로그 수집·정규화, 패턴 분류, 이상 탐지, RAG 기반 대응 권고 및 운영 지식 축적을 자동화한 Mini-AIOps 시스템을 구축했습니다.</a:t>
            </a:r>
            <a:r>
              <a:rPr lang="en-US" sz="4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b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구성:</a:t>
            </a:r>
            <a:endParaRPr lang="en-US" sz="900" dirty="0"/>
          </a:p>
          <a:p>
            <a:r>
              <a:rPr lang="ko-Kore-KR" altLang="ko-Kore-KR" sz="900"/>
              <a:t>OrchestratorAgent(작업 조율) → LogCollectorAgent(로그 수집) → LogAnalysisAgent(정규화·패턴 분석) → AnomalyDetectionAgent(이상 탐지) → KnowledgeBaseRAGAgent(유사 사례 검색) → RecommendationAgent(대응 방안 생성)</a:t>
            </a:r>
            <a:r>
              <a:rPr lang="en-US" sz="900"/>
              <a:t> </a:t>
            </a:r>
          </a:p>
          <a:p>
            <a:pPr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스택:</a:t>
            </a:r>
            <a:endParaRPr lang="en-US" sz="900" dirty="0"/>
          </a:p>
          <a:p>
            <a:r>
              <a:rPr lang="ko-Kore-KR" altLang="ko-Kore-KR" sz="900"/>
              <a:t>FastAPI · LangGraph · MCP-style Tool Registry · SQLite · ChromaDB · RAG · OpenAI/Azure OpenAI Embeddings · Vue 3 · TypeScript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56505" y="667385"/>
            <a:ext cx="383159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505" y="978535"/>
            <a:ext cx="1860550" cy="804545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225" y="1024255"/>
            <a:ext cx="1769745" cy="713740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rPr>
              <a:t>지식축적</a:t>
            </a:r>
          </a:p>
          <a:p>
            <a:pPr marL="0" indent="0" algn="ctr">
              <a:buFontTx/>
              <a:buNone/>
            </a:pP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운영자 개인에게만 쌓이는 지식을 재사용 가능한 운영 지식으로 전환</a:t>
            </a:r>
          </a:p>
        </p:txBody>
      </p:sp>
      <p:sp>
        <p:nvSpPr>
          <p:cNvPr id="20" name="Shape 18"/>
          <p:cNvSpPr/>
          <p:nvPr/>
        </p:nvSpPr>
        <p:spPr>
          <a:xfrm>
            <a:off x="7026910" y="978535"/>
            <a:ext cx="1860550" cy="804545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630" y="1024255"/>
            <a:ext cx="1769745" cy="713740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rPr>
              <a:t>점검시간</a:t>
            </a:r>
          </a:p>
          <a:p>
            <a:pPr marL="0" indent="0" algn="ctr">
              <a:buFontTx/>
              <a:buNone/>
            </a:pP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로그 전수 조사에 걸리는 시간 감소</a:t>
            </a:r>
          </a:p>
          <a:p>
            <a:pPr marL="0" indent="0" algn="ctr">
              <a:buFontTx/>
              <a:buNone/>
            </a:pP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약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30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분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&gt;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5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분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(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추정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)</a:t>
            </a:r>
            <a:endParaRPr lang="ko-KR" altLang="en-US" sz="800">
              <a:solidFill>
                <a:srgbClr val="666666"/>
              </a:solidFill>
              <a:latin typeface="Arial" charset="0"/>
              <a:cs typeface="Arial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056505" y="1874520"/>
            <a:ext cx="3831590" cy="804545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7945" y="1920240"/>
            <a:ext cx="3649345" cy="713740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rPr>
              <a:t>Pattern </a:t>
            </a:r>
            <a:r>
              <a:rPr lang="ko-KR" altLang="en-US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rPr>
              <a:t>인식</a:t>
            </a:r>
          </a:p>
          <a:p>
            <a:pPr marL="0" indent="0" algn="ctr">
              <a:buFontTx/>
              <a:buNone/>
            </a:pP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신규패턴 인식률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90%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이상</a:t>
            </a:r>
            <a:br>
              <a:rPr lang="en-US" sz="2200"/>
            </a:b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기존패턴 인식률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80%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이상</a:t>
            </a:r>
          </a:p>
        </p:txBody>
      </p:sp>
      <p:sp>
        <p:nvSpPr>
          <p:cNvPr id="24" name="Shape 22"/>
          <p:cNvSpPr/>
          <p:nvPr/>
        </p:nvSpPr>
        <p:spPr>
          <a:xfrm>
            <a:off x="5056505" y="2788920"/>
            <a:ext cx="3831590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>
            <a:spLocks/>
          </p:cNvSpPr>
          <p:nvPr/>
        </p:nvSpPr>
        <p:spPr>
          <a:xfrm>
            <a:off x="5056505" y="2912110"/>
            <a:ext cx="3832225" cy="220345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900" b="1">
                <a:solidFill>
                  <a:srgbClr val="4ECDC4"/>
                </a:solidFill>
                <a:latin typeface="Arial" charset="0"/>
                <a:ea typeface="Arial" charset="0"/>
                <a:cs typeface="Arial" charset="0"/>
              </a:rPr>
              <a:t>Key Message</a:t>
            </a:r>
            <a:endParaRPr lang="ko-KR" altLang="en-US" sz="900" b="1">
              <a:solidFill>
                <a:srgbClr val="4ECDC4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193665" y="3173095"/>
            <a:ext cx="355727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“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로그 점검 자동화로 반복 업무 시간을 </a:t>
            </a:r>
            <a:r>
              <a:rPr lang="ko-Kore-KR" altLang="en-US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7</a:t>
            </a:r>
            <a:r>
              <a:rPr lang="en-US" altLang="ko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0%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단축하고, 검증된 분석·조치 결과를 재사용 가능한 운영 지식으로 전환했습니다.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”</a:t>
            </a:r>
            <a:endParaRPr lang="en-US" sz="950" i="1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Deterministic 로그 정규화 + PatternOps Registry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1"/>
            <a:ext cx="3630168" cy="849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로그의 변동값으로 동일 장애가 여러 패턴으로 분리되는 문제를 방지하고, 검증된 패턴과 대응 기준을 지속적으로 재사용하기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로그를 정규화해 Fingerprint로 그룹화하고, PatternOps Contract와 비교하여 Known/New Pattern을 판정하고 원인·조치 근거를 연결했습니다.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02. Knowledge Card RAG + Recommendation Quality Gate</a:t>
            </a:r>
            <a:endParaRPr lang="en-US" altLang="ko-Kore-KR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모델 재학습 없이 축적된 장애 사례를 활용하고, LLM의 근거 없는 답변이나 위험한 운영 권고를 통제하기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ChromaDB에서 유사 Knowledge Card를 검색해 권고 근거로 활용하고, 생성 결과를 품질 점수와 Hard-fail 기준으로 검증해 재생성 또는 안전한 Fallback을 수행했습니다.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03. LangGraph 기반 Multi-Agent Orchestration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단순 Chain으로 관리하기 어려운 에이전트별 조건부 실행, 상태 기반 분기, 재시도 및 실패 이력을 체계적으로 제어하기 위해 적용했습니다.</a:t>
            </a:r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Orchestrator가 로그 수집·패턴 분석·이상 탐지 에이전트를 조율하고 실행 결과와 근거를 SharedState에 누적했으며, 상세 권고는 선택된 Fingerprint에 대해 별도 Workflow로 실행했습니다.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0215F2E-A2C6-6E30-A370-70F5C40B4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33" y="667512"/>
            <a:ext cx="3919467" cy="41285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5905" y="137160"/>
            <a:ext cx="54610" cy="40259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650" y="137160"/>
            <a:ext cx="6766560" cy="402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215" y="191770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215" y="19177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5905" y="575945"/>
            <a:ext cx="863219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5905" y="667385"/>
            <a:ext cx="8632190" cy="987425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370" y="758825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370" y="1033145"/>
            <a:ext cx="83026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구현으로 해결되지 않았던 핵심 기술 과제를 제시하세요.</a:t>
            </a:r>
            <a:endParaRPr lang="en-US" sz="850">
              <a:solidFill>
                <a:srgbClr val="CCCCCC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request ID·경로·숫자처럼 계속 변하는 값 때문에 동일 장애가 서로 다른 Fingerprint로 분산되며, 고정 정규식만으로는 새 변형을 지속 흡수하기 어렵다. </a:t>
            </a: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따라서 정규화를 일회성 전처리가 아니라, 운영자 검증 결과가 다음 분석의 판정 기준으로 환류되는 장기 운영 학습 레이어로 전환해야 했다.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Shape 10"/>
          <p:cNvSpPr>
            <a:spLocks/>
          </p:cNvSpPr>
          <p:nvPr/>
        </p:nvSpPr>
        <p:spPr>
          <a:xfrm>
            <a:off x="255905" y="1755775"/>
            <a:ext cx="4621530" cy="3173730"/>
          </a:xfrm>
          <a:prstGeom prst="rect">
            <a:avLst/>
          </a:prstGeom>
          <a:solidFill>
            <a:srgbClr val="F8F9FA"/>
          </a:solidFill>
          <a:ln w="12700" cap="flat" cmpd="sng">
            <a:solidFill>
              <a:srgbClr val="E5E5E5">
                <a:alpha val="100000"/>
              </a:srgbClr>
            </a:solidFill>
            <a:prstDash val="solid"/>
          </a:ln>
        </p:spPr>
        <p:txBody>
          <a:bodyPr vert="horz" wrap="square" lIns="0" tIns="0" rIns="0" bIns="0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55905" y="1764665"/>
            <a:ext cx="54610" cy="3173095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650" y="1856105"/>
            <a:ext cx="4041775" cy="24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175" y="2167255"/>
            <a:ext cx="4023995" cy="269811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t">
            <a:noAutofit/>
          </a:bodyPr>
          <a:lstStyle/>
          <a:p>
            <a:pPr marL="0" indent="0">
              <a:buFontTx/>
              <a:buNone/>
            </a:pPr>
            <a:r>
              <a:rPr lang="en-US" sz="900" b="1">
                <a:solidFill>
                  <a:srgbClr val="333333"/>
                </a:solidFill>
                <a:latin typeface="Arial" charset="0"/>
                <a:ea typeface="Arial" charset="0"/>
                <a:cs typeface="Arial" charset="0"/>
              </a:rPr>
              <a:t>어떻게 해결했는가? (설계 결정)</a:t>
            </a:r>
            <a:endParaRPr lang="ko-KR" altLang="en-US" sz="900" b="1">
              <a:solidFill>
                <a:srgbClr val="333333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정규화와 Fingerprint를 1차 기준으로 두고, Drain3·hybrid similarity·HDBSCAN으로 중복 후보를 만든 뒤 운영자 승인 시 normalization rule, canonical Fingerprint alias, Known Pattern을 함께 저장하도록 설계</a:t>
            </a:r>
            <a:r>
              <a:rPr lang="ko-KR" altLang="en-US" sz="850">
                <a:solidFill>
                  <a:srgbClr val="666666"/>
                </a:solidFill>
                <a:latin typeface="Arial" charset="0"/>
                <a:cs typeface="Arial" charset="0"/>
              </a:rPr>
              <a:t>하여</a:t>
            </a: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“Human-in-the-loop 기반 지속 학습형 운영 메모리”</a:t>
            </a:r>
            <a:r>
              <a:rPr lang="ko-KR" altLang="en-US" sz="850">
                <a:solidFill>
                  <a:srgbClr val="666666"/>
                </a:solidFill>
                <a:latin typeface="Arial" charset="0"/>
                <a:cs typeface="Arial" charset="0"/>
              </a:rPr>
              <a:t>를 사용한다</a:t>
            </a:r>
            <a:r>
              <a:rPr lang="en-US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.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en-US" sz="50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endParaRPr lang="ko-KR" altLang="en-US" sz="500">
              <a:solidFill>
                <a:srgbClr val="00000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endParaRPr lang="ko-KR" altLang="en-US" sz="900" b="1">
              <a:solidFill>
                <a:srgbClr val="333333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en-US" sz="900" b="1">
                <a:solidFill>
                  <a:srgbClr val="333333"/>
                </a:solidFill>
                <a:latin typeface="Arial" charset="0"/>
                <a:ea typeface="Arial" charset="0"/>
                <a:cs typeface="Arial" charset="0"/>
              </a:rPr>
              <a:t>핵심 알고리즘 / 아키텍처 결정</a:t>
            </a:r>
            <a:endParaRPr lang="ko-KR" altLang="en-US" sz="900" b="1">
              <a:solidFill>
                <a:srgbClr val="333333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en-US" sz="850">
                <a:solidFill>
                  <a:srgbClr val="666666"/>
                </a:solidFill>
                <a:latin typeface="Arial" charset="0"/>
                <a:cs typeface="Arial" charset="0"/>
              </a:rPr>
              <a:t>정</a:t>
            </a: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규화 후 Drain3·hybrid similarity·HDBSCAN으로 중복 후보를 만들고, 승인된 rule·alias·Known Pattern을 저장했다. 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LangGraph와 PatternOps가 이를 다음 분석에 재적용하는 “Human-in-the-loop 운영 메모리”를 구성했다.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endParaRPr lang="ko-KR" altLang="en-US" sz="900"/>
          </a:p>
          <a:p>
            <a:pPr marL="0" indent="0">
              <a:buFontTx/>
              <a:buNone/>
            </a:pPr>
            <a:r>
              <a:rPr lang="en-US" sz="900" b="1">
                <a:solidFill>
                  <a:srgbClr val="333333"/>
                </a:solidFill>
                <a:latin typeface="Arial" charset="0"/>
                <a:ea typeface="Arial" charset="0"/>
                <a:cs typeface="Arial" charset="0"/>
              </a:rPr>
              <a:t>왜 이 접근이 필요했는가?</a:t>
            </a:r>
            <a:endParaRPr lang="ko-KR" altLang="en-US" sz="900" b="1">
              <a:solidFill>
                <a:srgbClr val="333333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정규식만으로는 새 변형을 놓치고, embedding만으로는 구조가 다른 로그를 잘못 합칠 수 있다. 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결정적 규칙·다중 근거·운영자 승인을 결합해 재현성과 오탐 통제를 확보했다.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410" y="1764665"/>
            <a:ext cx="3829685" cy="3173095"/>
            <a:chOff x="5058410" y="1764665"/>
            <a:chExt cx="3829685" cy="3173095"/>
          </a:xfrm>
        </p:grpSpPr>
        <p:sp>
          <p:nvSpPr>
            <p:cNvPr id="16" name="Shape 14"/>
            <p:cNvSpPr>
              <a:spLocks/>
            </p:cNvSpPr>
            <p:nvPr/>
          </p:nvSpPr>
          <p:spPr>
            <a:xfrm>
              <a:off x="5058410" y="1764665"/>
              <a:ext cx="3830320" cy="3173730"/>
            </a:xfrm>
            <a:prstGeom prst="rect">
              <a:avLst/>
            </a:prstGeom>
            <a:solidFill>
              <a:srgbClr val="F0FDFB"/>
            </a:solidFill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txBody>
            <a:bodyPr vert="horz" wrap="square" lIns="0" tIns="0" rIns="0" bIns="0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17" name="Shape 15"/>
            <p:cNvSpPr>
              <a:spLocks/>
            </p:cNvSpPr>
            <p:nvPr/>
          </p:nvSpPr>
          <p:spPr>
            <a:xfrm>
              <a:off x="5058410" y="1764665"/>
              <a:ext cx="50165" cy="3173730"/>
            </a:xfrm>
            <a:prstGeom prst="rect">
              <a:avLst/>
            </a:prstGeom>
            <a:solidFill>
              <a:srgbClr val="4ECDC4"/>
            </a:solidFill>
            <a:ln w="12700" cap="flat" cmpd="sng">
              <a:solidFill>
                <a:srgbClr val="4ECDC4">
                  <a:alpha val="100000"/>
                </a:srgbClr>
              </a:solidFill>
              <a:prstDash val="solid"/>
            </a:ln>
          </p:spPr>
          <p:txBody>
            <a:bodyPr vert="horz" wrap="square" lIns="0" tIns="0" rIns="0" bIns="0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18" name="Text 16"/>
            <p:cNvSpPr>
              <a:spLocks/>
            </p:cNvSpPr>
            <p:nvPr/>
          </p:nvSpPr>
          <p:spPr>
            <a:xfrm>
              <a:off x="5165725" y="1856105"/>
              <a:ext cx="3648710" cy="247650"/>
            </a:xfrm>
            <a:prstGeom prst="rect">
              <a:avLst/>
            </a:prstGeom>
            <a:noFill/>
            <a:ln cap="flat" cmpd="sng">
              <a:prstDash/>
            </a:ln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>
                <a:buFontTx/>
                <a:buNone/>
              </a:pPr>
              <a:r>
                <a:rPr lang="en-US" sz="1000" b="1">
                  <a:solidFill>
                    <a:srgbClr val="3BB8B0"/>
                  </a:solidFill>
                  <a:latin typeface="Arial" charset="0"/>
                  <a:ea typeface="Arial" charset="0"/>
                  <a:cs typeface="Arial" charset="0"/>
                </a:rPr>
                <a:t>결과 및 성과 </a:t>
              </a:r>
              <a:r>
                <a:rPr lang="en-US" sz="1000" b="1">
                  <a:solidFill>
                    <a:schemeClr val="bg1">
                      <a:lumMod val="50000"/>
                    </a:schemeClr>
                  </a:solidFill>
                  <a:latin typeface="Arial" charset="0"/>
                  <a:ea typeface="Arial" charset="0"/>
                  <a:cs typeface="Arial" charset="0"/>
                </a:rPr>
                <a:t>(수치로 </a:t>
              </a:r>
              <a:r>
                <a:rPr lang="ko-KR" altLang="en-US" sz="1000" b="1">
                  <a:solidFill>
                    <a:schemeClr val="bg1">
                      <a:lumMod val="50000"/>
                    </a:schemeClr>
                  </a:solidFill>
                  <a:latin typeface="Arial" charset="0"/>
                  <a:ea typeface="Arial" charset="0"/>
                  <a:cs typeface="Arial" charset="0"/>
                </a:rPr>
                <a:t>제시</a:t>
              </a:r>
              <a:r>
                <a:rPr lang="en-US" sz="1000" b="1">
                  <a:solidFill>
                    <a:schemeClr val="bg1">
                      <a:lumMod val="50000"/>
                    </a:schemeClr>
                  </a:solidFill>
                  <a:latin typeface="Arial" charset="0"/>
                  <a:ea typeface="Arial" charset="0"/>
                  <a:cs typeface="Arial" charset="0"/>
                </a:rPr>
                <a:t>)</a:t>
              </a:r>
              <a:endParaRPr lang="ko-KR" altLang="en-US" sz="1000" b="1">
                <a:solidFill>
                  <a:schemeClr val="bg1">
                    <a:lumMod val="50000"/>
                  </a:schemeClr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9" name="Shape 17"/>
            <p:cNvSpPr>
              <a:spLocks/>
            </p:cNvSpPr>
            <p:nvPr/>
          </p:nvSpPr>
          <p:spPr>
            <a:xfrm>
              <a:off x="5173980" y="2194560"/>
              <a:ext cx="3632200" cy="814705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txBody>
            <a:bodyPr vert="horz" wrap="square" lIns="0" tIns="0" rIns="0" bIns="0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20" name="Text 18"/>
            <p:cNvSpPr>
              <a:spLocks/>
            </p:cNvSpPr>
            <p:nvPr/>
          </p:nvSpPr>
          <p:spPr>
            <a:xfrm>
              <a:off x="5223510" y="2194560"/>
              <a:ext cx="743585" cy="814705"/>
            </a:xfrm>
            <a:prstGeom prst="rect">
              <a:avLst/>
            </a:prstGeom>
            <a:noFill/>
            <a:ln cap="flat" cmpd="sng">
              <a:prstDash/>
            </a:ln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98</a:t>
              </a:r>
              <a:r>
                <a:rPr lang="en-US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%</a:t>
              </a:r>
              <a:endParaRPr lang="ko-KR" altLang="en-US" sz="1800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cxnSp>
          <p:nvCxnSpPr>
            <p:cNvPr id="21" name="Shape 19"/>
            <p:cNvCxnSpPr/>
            <p:nvPr/>
          </p:nvCxnSpPr>
          <p:spPr>
            <a:xfrm>
              <a:off x="6007100" y="2373630"/>
              <a:ext cx="635" cy="456565"/>
            </a:xfrm>
            <a:prstGeom prst="line">
              <a:avLst/>
            </a:prstGeom>
            <a:noFill/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 20"/>
            <p:cNvSpPr>
              <a:spLocks/>
            </p:cNvSpPr>
            <p:nvPr/>
          </p:nvSpPr>
          <p:spPr>
            <a:xfrm>
              <a:off x="6097905" y="2249170"/>
              <a:ext cx="2625090" cy="704850"/>
            </a:xfrm>
            <a:prstGeom prst="rect">
              <a:avLst/>
            </a:prstGeom>
            <a:noFill/>
            <a:ln cap="flat" cmpd="sng">
              <a:prstDash/>
            </a:ln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>
                <a:buFontTx/>
                <a:buNone/>
              </a:pPr>
              <a:r>
                <a:rPr 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성과 지표 1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–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FingerPrint 분산 98%축소</a:t>
              </a:r>
            </a:p>
            <a:p>
              <a:pPr marL="0" indent="0">
                <a:buFontTx/>
                <a:buNone/>
              </a:pP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r>
                <a:rPr lang="en-US" altLang="ko-KR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-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 중복으로 처리되는 패턴 50건 &gt; 1건으로</a:t>
              </a:r>
              <a:r>
                <a:rPr lang="en-US" altLang="ko-KR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처리</a:t>
              </a:r>
            </a:p>
          </p:txBody>
        </p:sp>
        <p:sp>
          <p:nvSpPr>
            <p:cNvPr id="23" name="Shape 21"/>
            <p:cNvSpPr>
              <a:spLocks/>
            </p:cNvSpPr>
            <p:nvPr/>
          </p:nvSpPr>
          <p:spPr>
            <a:xfrm>
              <a:off x="5173980" y="3090545"/>
              <a:ext cx="3632200" cy="814705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txBody>
            <a:bodyPr vert="horz" wrap="square" lIns="0" tIns="0" rIns="0" bIns="0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24" name="Text 22"/>
            <p:cNvSpPr>
              <a:spLocks/>
            </p:cNvSpPr>
            <p:nvPr/>
          </p:nvSpPr>
          <p:spPr>
            <a:xfrm>
              <a:off x="5223510" y="3090545"/>
              <a:ext cx="743585" cy="814705"/>
            </a:xfrm>
            <a:prstGeom prst="rect">
              <a:avLst/>
            </a:prstGeom>
            <a:noFill/>
            <a:ln cap="flat" cmpd="sng">
              <a:prstDash/>
            </a:ln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en-US" altLang="ko-KR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100</a:t>
              </a:r>
              <a:r>
                <a:rPr lang="en-US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%</a:t>
              </a:r>
              <a:endParaRPr lang="ko-KR" altLang="en-US" sz="1800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cxnSp>
          <p:nvCxnSpPr>
            <p:cNvPr id="25" name="Shape 23"/>
            <p:cNvCxnSpPr/>
            <p:nvPr/>
          </p:nvCxnSpPr>
          <p:spPr>
            <a:xfrm>
              <a:off x="6007100" y="3269615"/>
              <a:ext cx="635" cy="456565"/>
            </a:xfrm>
            <a:prstGeom prst="line">
              <a:avLst/>
            </a:prstGeom>
            <a:noFill/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 24"/>
            <p:cNvSpPr>
              <a:spLocks/>
            </p:cNvSpPr>
            <p:nvPr/>
          </p:nvSpPr>
          <p:spPr>
            <a:xfrm>
              <a:off x="6097905" y="3145790"/>
              <a:ext cx="2625090" cy="704850"/>
            </a:xfrm>
            <a:prstGeom prst="rect">
              <a:avLst/>
            </a:prstGeom>
            <a:noFill/>
            <a:ln cap="flat" cmpd="sng">
              <a:prstDash/>
            </a:ln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>
                <a:buFontTx/>
                <a:buNone/>
              </a:pPr>
              <a:r>
                <a:rPr 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성과 지표 2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-</a:t>
              </a:r>
              <a:r>
                <a:rPr lang="ko-KR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규칙 재사용률</a:t>
              </a:r>
              <a:r>
                <a:rPr lang="ko-KR" altLang="ko-KR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endParaRPr lang="ko-KR" altLang="en-US" sz="800">
                <a:solidFill>
                  <a:srgbClr val="666666"/>
                </a:solidFill>
                <a:latin typeface="Arial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-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Known Pattern 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변형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50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건을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50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/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50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(100%) Known Pattern으로 흡수</a:t>
              </a:r>
              <a:endParaRPr lang="ko-KR" altLang="en-US" sz="750">
                <a:solidFill>
                  <a:srgbClr val="666666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27" name="Shape 25"/>
            <p:cNvSpPr>
              <a:spLocks/>
            </p:cNvSpPr>
            <p:nvPr/>
          </p:nvSpPr>
          <p:spPr>
            <a:xfrm>
              <a:off x="5156835" y="3943350"/>
              <a:ext cx="3632200" cy="814705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txBody>
            <a:bodyPr vert="horz" wrap="square" lIns="0" tIns="0" rIns="0" bIns="0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28" name="Text 26"/>
            <p:cNvSpPr>
              <a:spLocks/>
            </p:cNvSpPr>
            <p:nvPr/>
          </p:nvSpPr>
          <p:spPr>
            <a:xfrm>
              <a:off x="5223510" y="3986530"/>
              <a:ext cx="743585" cy="814705"/>
            </a:xfrm>
            <a:prstGeom prst="rect">
              <a:avLst/>
            </a:prstGeom>
            <a:noFill/>
            <a:ln cap="flat" cmpd="sng">
              <a:prstDash/>
            </a:ln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4</a:t>
              </a:r>
              <a:r>
                <a:rPr lang="en-US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배</a:t>
              </a:r>
              <a:endParaRPr lang="ko-KR" altLang="en-US" sz="1800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cxnSp>
          <p:nvCxnSpPr>
            <p:cNvPr id="29" name="Shape 27"/>
            <p:cNvCxnSpPr/>
            <p:nvPr/>
          </p:nvCxnSpPr>
          <p:spPr>
            <a:xfrm>
              <a:off x="6007100" y="4165600"/>
              <a:ext cx="635" cy="456565"/>
            </a:xfrm>
            <a:prstGeom prst="line">
              <a:avLst/>
            </a:prstGeom>
            <a:noFill/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 28"/>
            <p:cNvSpPr>
              <a:spLocks/>
            </p:cNvSpPr>
            <p:nvPr/>
          </p:nvSpPr>
          <p:spPr>
            <a:xfrm>
              <a:off x="6097905" y="4050665"/>
              <a:ext cx="2625090" cy="704850"/>
            </a:xfrm>
            <a:prstGeom prst="rect">
              <a:avLst/>
            </a:prstGeom>
            <a:noFill/>
            <a:ln cap="flat" cmpd="sng">
              <a:prstDash/>
            </a:ln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>
                <a:buFontTx/>
                <a:buNone/>
              </a:pPr>
              <a:r>
                <a:rPr 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성과 지표 3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분석 권고 품질 개선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endParaRPr lang="ko-KR" altLang="en-US" sz="750">
                <a:solidFill>
                  <a:srgbClr val="666666"/>
                </a:solidFill>
                <a:latin typeface="Arial" charset="0"/>
                <a:ea typeface="맑은 고딕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-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종합 품질: 87.1→95.6점, 9.8% 향상</a:t>
              </a:r>
              <a:endParaRPr lang="ko-KR" altLang="en-US" sz="750">
                <a:solidFill>
                  <a:srgbClr val="666666"/>
                </a:solidFill>
                <a:latin typeface="Arial" charset="0"/>
                <a:ea typeface="맑은 고딕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-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검증 구체성: 11.0→13.5점, 22.7% 향상</a:t>
              </a:r>
              <a:endParaRPr lang="ko-KR" altLang="en-US" sz="750">
                <a:solidFill>
                  <a:srgbClr val="666666"/>
                </a:solidFill>
                <a:latin typeface="Arial" charset="0"/>
                <a:ea typeface="맑은 고딕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&gt; 90점 이상 고품질 권고 생성 비율 </a:t>
              </a:r>
              <a:r>
                <a:rPr lang="ko-KR" altLang="ko-KR" sz="750" b="0">
                  <a:solidFill>
                    <a:srgbClr val="666666"/>
                  </a:solidFill>
                  <a:latin typeface="Arial" charset="0"/>
                  <a:ea typeface="+mn-ea"/>
                  <a:cs typeface="+mn-cs"/>
                </a:rPr>
                <a:t>4배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 증가</a:t>
              </a:r>
              <a:endParaRPr lang="ko-KR" altLang="en-US" sz="750">
                <a:solidFill>
                  <a:srgbClr val="666666"/>
                </a:solidFill>
                <a:latin typeface="Arial" charset="0"/>
                <a:ea typeface="맑은 고딕" charset="0"/>
                <a:cs typeface="Arial" charset="0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Pages>4</Pages>
  <Words>1172</Words>
  <Characters>0</Characters>
  <Application>Microsoft Macintosh PowerPoint</Application>
  <DocSecurity>0</DocSecurity>
  <PresentationFormat>화면 슬라이드 쇼(16:9)</PresentationFormat>
  <Lines>0</Lines>
  <Paragraphs>91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Microsoft Office User</cp:lastModifiedBy>
  <cp:revision>4</cp:revision>
  <dcterms:modified xsi:type="dcterms:W3CDTF">2026-07-19T06:29:07Z</dcterms:modified>
  <cp:version>10.105.293.56114</cp:version>
</cp:coreProperties>
</file>